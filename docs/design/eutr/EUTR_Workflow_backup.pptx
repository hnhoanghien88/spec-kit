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551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EUTR Workflow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across Procurement, Accounting &amp; System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6F1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32004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1F5E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Website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32004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FAECE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1F5E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384048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FFF3D6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E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384048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EEDF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(auto)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phases from template setup to payment &amp; monitoring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template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Web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874520"/>
            <a:ext cx="18288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108960" y="182880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92" y="187452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91840" y="13716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29000" y="1554480"/>
            <a:ext cx="411480" cy="41148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5" name="Text 11"/>
          <p:cNvSpPr/>
          <p:nvPr/>
        </p:nvSpPr>
        <p:spPr>
          <a:xfrm>
            <a:off x="34290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93192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configure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2900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Proc.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2900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Web → D365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874520"/>
            <a:ext cx="182880" cy="182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943600" y="182880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1874520"/>
            <a:ext cx="182880" cy="1828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26480" y="13716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263640" y="1554480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4" name="Text 18"/>
          <p:cNvSpPr/>
          <p:nvPr/>
        </p:nvSpPr>
        <p:spPr>
          <a:xfrm>
            <a:off x="62636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76656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 &amp; upload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26364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26364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+ Sharepoint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32004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94360" y="3383280"/>
            <a:ext cx="411480" cy="41148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30" name="Text 24"/>
          <p:cNvSpPr/>
          <p:nvPr/>
        </p:nvSpPr>
        <p:spPr>
          <a:xfrm>
            <a:off x="59436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109728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validation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59436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(auto)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9436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+ SP + EUTR</a:t>
            </a:r>
            <a:endParaRPr lang="en-US" sz="11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3703320"/>
            <a:ext cx="182880" cy="18288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3108960" y="365760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92" y="3703320"/>
            <a:ext cx="182880" cy="18288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3291840" y="32004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3429000" y="3383280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9" name="Text 31"/>
          <p:cNvSpPr/>
          <p:nvPr/>
        </p:nvSpPr>
        <p:spPr>
          <a:xfrm>
            <a:off x="34290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393192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&amp; request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342900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342900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Web → D365</a:t>
            </a:r>
            <a:endParaRPr lang="en-US" sz="110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703320"/>
            <a:ext cx="182880" cy="182880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5943600" y="365760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3703320"/>
            <a:ext cx="182880" cy="182880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6126480" y="32004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6263640" y="3383280"/>
            <a:ext cx="411480" cy="411480"/>
          </a:xfrm>
          <a:prstGeom prst="ellipse">
            <a:avLst/>
          </a:prstGeom>
          <a:solidFill>
            <a:srgbClr val="9E6B0A"/>
          </a:solidFill>
          <a:ln/>
        </p:spPr>
      </p:sp>
      <p:sp>
        <p:nvSpPr>
          <p:cNvPr id="48" name="Text 38"/>
          <p:cNvSpPr/>
          <p:nvPr/>
        </p:nvSpPr>
        <p:spPr>
          <a:xfrm>
            <a:off x="62636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Text 39"/>
          <p:cNvSpPr/>
          <p:nvPr/>
        </p:nvSpPr>
        <p:spPr>
          <a:xfrm>
            <a:off x="676656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monitor</a:t>
            </a:r>
            <a:endParaRPr lang="en-US" sz="1500" dirty="0"/>
          </a:p>
        </p:txBody>
      </p:sp>
      <p:sp>
        <p:nvSpPr>
          <p:cNvPr id="50" name="Text 40"/>
          <p:cNvSpPr/>
          <p:nvPr/>
        </p:nvSpPr>
        <p:spPr>
          <a:xfrm>
            <a:off x="626364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+ Mgr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626364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+ EUTR Web</a:t>
            </a:r>
            <a:endParaRPr lang="en-US" sz="1100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01752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Create EUTR template &amp; assign vendor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1-3  |  Procurement  |  EUTR Website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E1F5EE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56716"/>
            <a:ext cx="10972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Website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13716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5DCAA5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EUTR template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(define steps for vendor)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03320" y="1536192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2" y="1572768"/>
            <a:ext cx="164592" cy="164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14800" y="13716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5DCAA5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0" y="1371600"/>
            <a:ext cx="20116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Define file naming rules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EUTR step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536192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572768"/>
            <a:ext cx="164592" cy="164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675120" y="137160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5DCAA5"/>
          </a:solidFill>
          <a:ln/>
        </p:spPr>
      </p:sp>
      <p:sp>
        <p:nvSpPr>
          <p:cNvPr id="16" name="Text 12"/>
          <p:cNvSpPr/>
          <p:nvPr/>
        </p:nvSpPr>
        <p:spPr>
          <a:xfrm>
            <a:off x="6675120" y="1371600"/>
            <a:ext cx="16459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Assign template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vendor or Default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73736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286000" y="2148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purchasing data, EUTR file naming conventions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737360" y="2377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286000" y="2377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ID, file naming rules per step, vendor-template mapping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12700">
            <a:solidFill>
              <a:srgbClr val="993556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2286000" y="2852928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FBEAF0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89864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606040" y="28529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syncs Template ID to D365 automatically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33832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sp>
        <p:nvSpPr>
          <p:cNvPr id="26" name="Text 21"/>
          <p:cNvSpPr/>
          <p:nvPr/>
        </p:nvSpPr>
        <p:spPr>
          <a:xfrm>
            <a:off x="640080" y="34747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creates EUTR templates on EUTR website based on vendor purchasing data. Each template defines the required EUTR steps. Output: Template ID.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file naming conventions for each step so that when files are uploaded to Sharepoint, the system can auto-map files to the correct EUTR steps.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template to a specific vendor or set as Default for all vendors.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Sync &amp; configure EUTR on D365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4-5  |  System (auto) + Procurement  |  EUTR Web → D365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38428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EEDFE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2878"/>
            <a:ext cx="10972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(auto)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→ D365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3258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AFA9EC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Sync EUTR Template IDs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website to D365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20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IDs available on D365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8229600" cy="0"/>
          </a:xfrm>
          <a:prstGeom prst="line">
            <a:avLst/>
          </a:prstGeom>
          <a:noFill/>
          <a:ln w="12700">
            <a:solidFill>
              <a:srgbClr val="993556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2286000" y="2212848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FBEAF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25856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22128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configures EUTR rules on D365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6517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1F5EE">
              <a:alpha val="15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2697480"/>
            <a:ext cx="10972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3108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828800" y="278892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5DCAA5"/>
          </a:solidFill>
          <a:ln/>
        </p:spPr>
      </p:sp>
      <p:sp>
        <p:nvSpPr>
          <p:cNvPr id="19" name="Text 15"/>
          <p:cNvSpPr/>
          <p:nvPr/>
        </p:nvSpPr>
        <p:spPr>
          <a:xfrm>
            <a:off x="182880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5a. Configure materials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require EUTR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251960" y="2907792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2944368"/>
            <a:ext cx="164592" cy="16459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663440" y="278892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5DCAA5"/>
          </a:solidFill>
          <a:ln/>
        </p:spPr>
      </p:sp>
      <p:sp>
        <p:nvSpPr>
          <p:cNvPr id="23" name="Text 18"/>
          <p:cNvSpPr/>
          <p:nvPr/>
        </p:nvSpPr>
        <p:spPr>
          <a:xfrm>
            <a:off x="466344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5b. Configure vendors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require EUTR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828800" y="3749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377440" y="3749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codes, vendor codes, Template IDs from step 4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828800" y="3977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2377440" y="3977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configuration on D365 (material + vendor rules) — ready for PO creation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993556"/>
            </a:solidFill>
            <a:prstDash val="dash"/>
          </a:ln>
        </p:spPr>
      </p:sp>
      <p:sp>
        <p:nvSpPr>
          <p:cNvPr id="29" name="Shape 24"/>
          <p:cNvSpPr/>
          <p:nvPr/>
        </p:nvSpPr>
        <p:spPr>
          <a:xfrm>
            <a:off x="2286000" y="4407408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FBEAF0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4453128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2606040" y="44074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PO creation with EUTR enforcement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Create PO &amp; upload EUTR files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6-7  |  Procurement  |  D365 + Sharepoint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E1F5EE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09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12344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5DCAA5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Create PO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44168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1380744"/>
            <a:ext cx="164592" cy="164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0" y="118872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365760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required?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23560" y="1344168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380744"/>
            <a:ext cx="164592" cy="164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035040" y="118872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5DCAA5"/>
          </a:solidFill>
          <a:ln/>
        </p:spPr>
      </p:sp>
      <p:sp>
        <p:nvSpPr>
          <p:cNvPr id="16" name="Text 12"/>
          <p:cNvSpPr/>
          <p:nvPr/>
        </p:nvSpPr>
        <p:spPr>
          <a:xfrm>
            <a:off x="6035040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User must select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Template ID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65760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EUTR → End (no action needed)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737360" y="21031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 config from Step 5 to determine if EUTR applies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57200" y="2651760"/>
            <a:ext cx="8229600" cy="0"/>
          </a:xfrm>
          <a:prstGeom prst="line">
            <a:avLst/>
          </a:prstGeom>
          <a:noFill/>
          <a:ln w="12700">
            <a:solidFill>
              <a:srgbClr val="993556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2286000" y="2487168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FBEAF0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532888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606040" y="24871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uploads EUTR files to Sharepoint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29260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AECE7">
              <a:alpha val="15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457200" y="2971800"/>
            <a:ext cx="10972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3383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828800" y="30632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0997B"/>
          </a:solidFill>
          <a:ln/>
        </p:spPr>
      </p:sp>
      <p:sp>
        <p:nvSpPr>
          <p:cNvPr id="27" name="Text 22"/>
          <p:cNvSpPr/>
          <p:nvPr/>
        </p:nvSpPr>
        <p:spPr>
          <a:xfrm>
            <a:off x="182880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7a. Create folder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name as PO)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3977640" y="3182112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3218688"/>
            <a:ext cx="164592" cy="16459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4389120" y="306324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F0997B"/>
          </a:solidFill>
          <a:ln/>
        </p:spPr>
      </p:sp>
      <p:sp>
        <p:nvSpPr>
          <p:cNvPr id="31" name="Text 25"/>
          <p:cNvSpPr/>
          <p:nvPr/>
        </p:nvSpPr>
        <p:spPr>
          <a:xfrm>
            <a:off x="4389120" y="3063240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7b. Upload all EUTR files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PO folder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828800" y="3657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auto-maps files to EUTR steps based on naming rules (Step 2)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828800" y="40233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2377440" y="40233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config (Step 5), Template IDs (Step 4), EUTR files from vendor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1828800" y="4224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2377440" y="4224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with EUTR Template ID (D365), PO folder with EUTR files (Sharepoint)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993556"/>
            </a:solidFill>
            <a:prstDash val="dash"/>
          </a:ln>
        </p:spPr>
      </p:sp>
      <p:sp>
        <p:nvSpPr>
          <p:cNvPr id="38" name="Shape 32"/>
          <p:cNvSpPr/>
          <p:nvPr/>
        </p:nvSpPr>
        <p:spPr>
          <a:xfrm>
            <a:off x="2286000" y="4544568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FBEAF0"/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4590288"/>
            <a:ext cx="201168" cy="20116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2606040" y="45445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runs daily automated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4: Daily automated validation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 |  System (auto)  |  D365 + Sharepoint + EUTR Website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EEEDFE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(auto)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job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2344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AFA9EC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Daily job runs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143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1371600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E6F1FB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371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data (EUTR flag)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1645920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FAECE7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1645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folders + files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31920" y="1920240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E1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1920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Web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steps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0" y="22860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8288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folder exists?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51960" y="2395728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432304"/>
            <a:ext cx="164592" cy="16459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663440" y="22860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46634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 uploaded?</a:t>
            </a:r>
            <a:endParaRPr lang="en-US" sz="11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2971800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19456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folder: Email alert to Procurement</a:t>
            </a:r>
            <a:endParaRPr lang="en-US" sz="10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3246120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19456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files: Email alert with details</a:t>
            </a:r>
            <a:endParaRPr lang="en-US" sz="10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97180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8521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complete: No action needed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57200" y="3931920"/>
            <a:ext cx="8229600" cy="0"/>
          </a:xfrm>
          <a:prstGeom prst="line">
            <a:avLst/>
          </a:prstGeom>
          <a:noFill/>
          <a:ln w="12700">
            <a:solidFill>
              <a:srgbClr val="993556"/>
            </a:solidFill>
            <a:prstDash val="dash"/>
          </a:ln>
        </p:spPr>
      </p:sp>
      <p:sp>
        <p:nvSpPr>
          <p:cNvPr id="32" name="Shape 26"/>
          <p:cNvSpPr/>
          <p:nvPr/>
        </p:nvSpPr>
        <p:spPr>
          <a:xfrm>
            <a:off x="2286000" y="3767328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FBEAF0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813048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606040" y="37673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 sent to Procurement to fix missing files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1F5EE">
              <a:alpha val="1500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457200" y="4206240"/>
            <a:ext cx="10972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45720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1828800" y="42976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5DCAA5"/>
          </a:solidFill>
          <a:ln/>
        </p:spPr>
      </p:sp>
      <p:sp>
        <p:nvSpPr>
          <p:cNvPr id="39" name="Text 32"/>
          <p:cNvSpPr/>
          <p:nvPr/>
        </p:nvSpPr>
        <p:spPr>
          <a:xfrm>
            <a:off x="1828800" y="4297680"/>
            <a:ext cx="22860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alert email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4251960" y="4370832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4407408"/>
            <a:ext cx="164592" cy="164592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4663440" y="429768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5DCAA5"/>
          </a:solidFill>
          <a:ln/>
        </p:spPr>
      </p:sp>
      <p:sp>
        <p:nvSpPr>
          <p:cNvPr id="43" name="Text 35"/>
          <p:cNvSpPr/>
          <p:nvPr/>
        </p:nvSpPr>
        <p:spPr>
          <a:xfrm>
            <a:off x="4663440" y="4297680"/>
            <a:ext cx="27432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missing EUTR files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Sharepoint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7"/>
          <p:cNvSpPr/>
          <p:nvPr/>
        </p:nvSpPr>
        <p:spPr>
          <a:xfrm>
            <a:off x="6446520" y="1330198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5: Invoice upload &amp; payment request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 |  Procurement + System  |  EUTR Website → D365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1F5EE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0972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Website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1887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5DCAA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9a. Upload Invoice PDF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1298448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330452"/>
            <a:ext cx="164592" cy="164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389120" y="11887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5DCAA5"/>
          </a:solidFill>
          <a:ln/>
        </p:spPr>
      </p:sp>
      <p:sp>
        <p:nvSpPr>
          <p:cNvPr id="12" name="Text 9"/>
          <p:cNvSpPr/>
          <p:nvPr/>
        </p:nvSpPr>
        <p:spPr>
          <a:xfrm>
            <a:off x="438912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9b. Upload Invoice XML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12700">
            <a:solidFill>
              <a:srgbClr val="993556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2286000" y="1938528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FBEAF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98424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06040" y="19385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auto-syncs files to D365 Payment request material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23774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EEDFE">
              <a:alpha val="15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2377440"/>
            <a:ext cx="10972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(auto)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2697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→ D365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1828800" y="246888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AFA9EC"/>
          </a:solidFill>
          <a:ln/>
        </p:spPr>
      </p:sp>
      <p:sp>
        <p:nvSpPr>
          <p:cNvPr id="21" name="Text 17"/>
          <p:cNvSpPr/>
          <p:nvPr/>
        </p:nvSpPr>
        <p:spPr>
          <a:xfrm>
            <a:off x="1828800" y="2468880"/>
            <a:ext cx="32004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invoice files to D365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request material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3337560"/>
            <a:ext cx="8229600" cy="0"/>
          </a:xfrm>
          <a:prstGeom prst="line">
            <a:avLst/>
          </a:prstGeom>
          <a:noFill/>
          <a:ln w="12700">
            <a:solidFill>
              <a:srgbClr val="993556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2286000" y="3172968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FBEAF0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218688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606040" y="31729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selects POs and sends email to Accounting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57200" y="3611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1F5EE">
              <a:alpha val="15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457200" y="3657600"/>
            <a:ext cx="10972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3977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Website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1828800" y="37033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5DCAA5"/>
          </a:solidFill>
          <a:ln/>
        </p:spPr>
      </p:sp>
      <p:sp>
        <p:nvSpPr>
          <p:cNvPr id="30" name="Text 25"/>
          <p:cNvSpPr/>
          <p:nvPr/>
        </p:nvSpPr>
        <p:spPr>
          <a:xfrm>
            <a:off x="182880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9c. Select </a:t>
            </a:r>
            <a:r>
              <a:rPr lang="en-US" sz="1100" dirty="0" smtClean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payment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3977640" y="3813048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3849624"/>
            <a:ext cx="164592" cy="16459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4389120" y="37033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5DCAA5"/>
          </a:solidFill>
          <a:ln/>
        </p:spPr>
      </p:sp>
      <p:sp>
        <p:nvSpPr>
          <p:cNvPr id="34" name="Text 28"/>
          <p:cNvSpPr/>
          <p:nvPr/>
        </p:nvSpPr>
        <p:spPr>
          <a:xfrm>
            <a:off x="438912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9d. Click 'Send email'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notify Accounting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1828800" y="4251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2377440" y="4251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request email to Accounting with PO list and invoice data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993556"/>
            </a:solidFill>
            <a:prstDash val="dash"/>
          </a:ln>
        </p:spPr>
      </p:sp>
      <p:sp>
        <p:nvSpPr>
          <p:cNvPr id="38" name="Shape 32"/>
          <p:cNvSpPr/>
          <p:nvPr/>
        </p:nvSpPr>
        <p:spPr>
          <a:xfrm>
            <a:off x="2286000" y="4590288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FBEAF0"/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4636008"/>
            <a:ext cx="201168" cy="20116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2606040" y="45902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sent to Accounting for payment processing</a:t>
            </a:r>
            <a:endParaRPr lang="en-US" sz="1000" dirty="0"/>
          </a:p>
        </p:txBody>
      </p:sp>
      <p:sp>
        <p:nvSpPr>
          <p:cNvPr id="41" name="Shape 8"/>
          <p:cNvSpPr/>
          <p:nvPr/>
        </p:nvSpPr>
        <p:spPr>
          <a:xfrm>
            <a:off x="6743700" y="11887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5DCAA5"/>
          </a:solidFill>
          <a:ln/>
        </p:spPr>
      </p:sp>
      <p:sp>
        <p:nvSpPr>
          <p:cNvPr id="42" name="Text 9"/>
          <p:cNvSpPr/>
          <p:nvPr/>
        </p:nvSpPr>
        <p:spPr>
          <a:xfrm>
            <a:off x="674370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 err="1" smtClean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9c</a:t>
            </a:r>
            <a:r>
              <a:rPr lang="en-US" sz="1100" dirty="0" smtClean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Attach PO to Invoice</a:t>
            </a:r>
            <a:endParaRPr lang="en-US" sz="110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954" y="1362456"/>
            <a:ext cx="164592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6: Payment processing &amp; EUTR monitoring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10-11  |  Accounting + Manager  |  D365 + EUTR Website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965960"/>
          </a:xfrm>
          <a:prstGeom prst="roundRect">
            <a:avLst>
              <a:gd name="adj" fmla="val 3721"/>
            </a:avLst>
          </a:prstGeom>
          <a:solidFill>
            <a:srgbClr val="FFF3D6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7193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2913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70815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EF9F27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682750"/>
            <a:ext cx="1828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10a. Receive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email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94760" y="1799590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1810766"/>
            <a:ext cx="164592" cy="164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0" y="168275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EF9F27"/>
          </a:solidFill>
          <a:ln/>
        </p:spPr>
      </p:sp>
      <p:sp>
        <p:nvSpPr>
          <p:cNvPr id="12" name="Text 9"/>
          <p:cNvSpPr/>
          <p:nvPr/>
        </p:nvSpPr>
        <p:spPr>
          <a:xfrm>
            <a:off x="4206240" y="1670050"/>
            <a:ext cx="1828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10b. Open D365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request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761490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810766"/>
            <a:ext cx="164592" cy="164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83680" y="168275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EF9F27"/>
          </a:solidFill>
          <a:ln/>
        </p:spPr>
      </p:sp>
      <p:sp>
        <p:nvSpPr>
          <p:cNvPr id="16" name="Text 12"/>
          <p:cNvSpPr/>
          <p:nvPr/>
        </p:nvSpPr>
        <p:spPr>
          <a:xfrm>
            <a:off x="6583680" y="1670050"/>
            <a:ext cx="16459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10c. Create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36855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63440" y="232283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Payment proceeds normally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3337560"/>
            <a:ext cx="8229600" cy="0"/>
          </a:xfrm>
          <a:prstGeom prst="line">
            <a:avLst/>
          </a:prstGeom>
          <a:noFill/>
          <a:ln w="12700">
            <a:solidFill>
              <a:srgbClr val="993556"/>
            </a:solidFill>
            <a:prstDash val="dash"/>
          </a:ln>
        </p:spPr>
      </p:sp>
      <p:sp>
        <p:nvSpPr>
          <p:cNvPr id="26" name="Shape 20"/>
          <p:cNvSpPr/>
          <p:nvPr/>
        </p:nvSpPr>
        <p:spPr>
          <a:xfrm>
            <a:off x="2286000" y="3172968"/>
            <a:ext cx="4572000" cy="329184"/>
          </a:xfrm>
          <a:prstGeom prst="roundRect">
            <a:avLst>
              <a:gd name="adj" fmla="val 27778"/>
            </a:avLst>
          </a:prstGeom>
          <a:solidFill>
            <a:srgbClr val="FBEAF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3218688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606040" y="31729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Manager monitors overall status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57200" y="35661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EEEDFE">
              <a:alpha val="1500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457200" y="3611880"/>
            <a:ext cx="10972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Manager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57200" y="42062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Website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1828800" y="37033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AFA9EC"/>
          </a:solidFill>
          <a:ln/>
        </p:spPr>
      </p:sp>
      <p:sp>
        <p:nvSpPr>
          <p:cNvPr id="33" name="Text 26"/>
          <p:cNvSpPr/>
          <p:nvPr/>
        </p:nvSpPr>
        <p:spPr>
          <a:xfrm>
            <a:off x="182880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11a. View Sales Orders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from D365)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3977640" y="3813048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3849624"/>
            <a:ext cx="164592" cy="16459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4389120" y="370332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37" name="Text 29"/>
          <p:cNvSpPr/>
          <p:nvPr/>
        </p:nvSpPr>
        <p:spPr>
          <a:xfrm>
            <a:off x="4389120" y="3703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EUTR status: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or missing?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6172200" y="3813048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3849624"/>
            <a:ext cx="164592" cy="164592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6583680" y="36576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AFA9EC"/>
          </a:solidFill>
          <a:ln/>
        </p:spPr>
      </p:sp>
      <p:sp>
        <p:nvSpPr>
          <p:cNvPr id="41" name="Text 32"/>
          <p:cNvSpPr/>
          <p:nvPr/>
        </p:nvSpPr>
        <p:spPr>
          <a:xfrm>
            <a:off x="6583680" y="365760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11b. If missing: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send email alert</a:t>
            </a:r>
            <a:endParaRPr lang="en-US" sz="11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4343400"/>
            <a:ext cx="228600" cy="2286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219456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EUTR files directly from this screen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1828800" y="46177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2377440" y="46177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 to responsible person for EUTR updates, downloadable EUTR files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801</Words>
  <Application>Microsoft Office PowerPoint</Application>
  <PresentationFormat>On-screen Show (16:9)</PresentationFormat>
  <Paragraphs>171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EUTR Workflow</dc:title>
  <dc:subject>PptxGenJS Presentation</dc:subject>
  <dc:creator>Claude</dc:creator>
  <cp:lastModifiedBy>Hien, Huynh Nguyen Hoang - IT</cp:lastModifiedBy>
  <cp:revision>4</cp:revision>
  <dcterms:created xsi:type="dcterms:W3CDTF">2026-06-17T07:32:27Z</dcterms:created>
  <dcterms:modified xsi:type="dcterms:W3CDTF">2026-06-25T02:49:54Z</dcterms:modified>
</cp:coreProperties>
</file>